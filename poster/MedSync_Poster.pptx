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" d="100"/>
          <a:sy n="12" d="100"/>
        </p:scale>
        <p:origin x="230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663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764" y="1554480"/>
            <a:ext cx="950976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52818" y="1950847"/>
            <a:ext cx="5985164" cy="154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MEDSYNC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11887200" y="3447661"/>
            <a:ext cx="1691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Vitor Bansen Delfino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682238" y="4665559"/>
            <a:ext cx="13326324" cy="92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i="1" dirty="0">
                <a:solidFill>
                  <a:srgbClr val="9E1B3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vitor.delfino@catolicasc.edu.br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600" b="1" i="1" dirty="0">
                <a:solidFill>
                  <a:srgbClr val="555555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Graduando do curso de Bacharelado em Engenharia de Software da Católica de SC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-41564" y="6189345"/>
            <a:ext cx="30358912" cy="372937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219200" y="6920702"/>
            <a:ext cx="127604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219200" y="8312430"/>
            <a:ext cx="12760452" cy="2913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Clínicas de médio porte ainda agendam por planilha e telefone, gerando conflitos de horário, 20–30% de faltas e nenhuma visão unificada da agenda.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As opções do mercado são genéricas demais (Doctoralia, Agenda Fácil) ou caras demais (</a:t>
            </a:r>
            <a:r>
              <a:rPr lang="en-US" sz="3000" dirty="0" err="1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iClinic</a:t>
            </a: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).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19200" y="11501564"/>
            <a:ext cx="127604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1219200" y="12517995"/>
            <a:ext cx="127604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7A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com usuários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219200" y="13388857"/>
            <a:ext cx="1276045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Foram feitas 4 entrevistas em uma clínica de Joinville/SC (3 biomédicas e 1 analista de TI), confirmando os problemas do dia a dia: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20% a 30% de faltas por ausência de lembrete automático;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Profissionais sem acompanhar a própria agenda sem depender da recepção.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19201" y="16381089"/>
            <a:ext cx="127604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7A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utilizadas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219201" y="17224329"/>
            <a:ext cx="12760452" cy="2128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Front-end: </a:t>
            </a: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Next.js, React e TailwindCSS (telas rápidas e responsivas);</a:t>
            </a:r>
            <a:endParaRPr lang="en-US" sz="3000" dirty="0"/>
          </a:p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Servidor: </a:t>
            </a: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com Express, Prisma e login por token (JWT);</a:t>
            </a:r>
            <a:endParaRPr lang="en-US" sz="3000" dirty="0"/>
          </a:p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Dados: </a:t>
            </a: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(banco) e Redis (cache rápido);</a:t>
            </a:r>
            <a:endParaRPr lang="en-US" sz="3000" dirty="0"/>
          </a:p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Apoio: </a:t>
            </a: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GitHub Actions e Z-API (WhatsApp).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219201" y="19831616"/>
            <a:ext cx="127604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7A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Detalhes de engenharia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1219200" y="20696995"/>
            <a:ext cx="1276045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em camadas (Controllers → Services → Repositories), facilitando manutenção e testes;</a:t>
            </a:r>
            <a:endParaRPr lang="en-US" sz="30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por perfil protegendo cada rota;</a:t>
            </a:r>
            <a:endParaRPr lang="en-US" sz="30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de conflito em dois níveis: validação na aplicação + trava no banco, mesmo em acessos simultâneos;</a:t>
            </a:r>
            <a:endParaRPr lang="en-US" sz="30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no Redis para manter a resposta abaixo de 200 ms.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5590403" y="7295175"/>
            <a:ext cx="12760452" cy="535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15137605" y="8307670"/>
            <a:ext cx="13918407" cy="3426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b="1" dirty="0" err="1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Desempenho</a:t>
            </a:r>
            <a:r>
              <a:rPr lang="en-US" sz="3000" b="1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</a:t>
            </a: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buscas em &lt; 200 ms (p99 de 193 ms) com cache Redis;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b="1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Testes: </a:t>
            </a: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41 testes automatizados (Jest, Supertest, RTL, Playwright), 83% de cobertura (meta 75%);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b="1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CI/CD: </a:t>
            </a: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testes a cada alteração no GitHub Actions; qualidade no SonarCloud;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b="1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Implantação: </a:t>
            </a: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Docker em nuvem, domínio próprio e HTTPS;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b="1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Segurança: </a:t>
            </a: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bcrypt, login por token (JWT), validação de dados e limite de tentativas;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b="1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LGPD: </a:t>
            </a:r>
            <a:r>
              <a:rPr lang="en-US" sz="3000" dirty="0">
                <a:solidFill>
                  <a:srgbClr val="22222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termos de uso, consentimento e exclusão da própria conta.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2382109" y="17228820"/>
            <a:ext cx="5968746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15777972" y="21488400"/>
            <a:ext cx="5968746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22569678" y="21488400"/>
            <a:ext cx="5968746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5777972" y="25972606"/>
            <a:ext cx="127604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4400" dirty="0"/>
          </a:p>
        </p:txBody>
      </p:sp>
      <p:sp>
        <p:nvSpPr>
          <p:cNvPr id="29" name="Text 26"/>
          <p:cNvSpPr/>
          <p:nvPr/>
        </p:nvSpPr>
        <p:spPr>
          <a:xfrm>
            <a:off x="15137604" y="27530732"/>
            <a:ext cx="13213223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MedSync entregou uma plataforma de agendamento clínico funcional, segura e em produção, atacando conflitos de horário, absenteísmo e falta de visão unificada da agenda.</a:t>
            </a:r>
            <a:endParaRPr lang="en-US" sz="30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camadas + cache + índice único parcial garante integridade sob concorrência;</a:t>
            </a:r>
            <a:endParaRPr lang="en-US" sz="3000" dirty="0"/>
          </a:p>
          <a:p>
            <a:pPr marL="342900" indent="-342900" algn="just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Aprendizados: prevenção de conflito no banco, automação de testes/CI e conformidade com a LGPD.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15716582" y="32413035"/>
            <a:ext cx="127604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9E1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4400" dirty="0"/>
          </a:p>
        </p:txBody>
      </p:sp>
      <p:sp>
        <p:nvSpPr>
          <p:cNvPr id="31" name="Text 28"/>
          <p:cNvSpPr/>
          <p:nvPr/>
        </p:nvSpPr>
        <p:spPr>
          <a:xfrm>
            <a:off x="15111591" y="33986125"/>
            <a:ext cx="127604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NEXT.JS. Documentation. nextjs.org/docs.</a:t>
            </a:r>
            <a:endParaRPr lang="en-US" sz="3000" dirty="0"/>
          </a:p>
          <a:p>
            <a:pPr marL="342900" indent="-342900" algn="l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 Documentation. react.dev.</a:t>
            </a:r>
            <a:endParaRPr lang="en-US" sz="3000" dirty="0"/>
          </a:p>
          <a:p>
            <a:pPr marL="342900" indent="-342900" algn="l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PRISMA. Prisma ORM Docs. prisma.io/docs.</a:t>
            </a:r>
            <a:endParaRPr lang="en-US" sz="3000" dirty="0"/>
          </a:p>
          <a:p>
            <a:pPr marL="342900" indent="-342900" algn="l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REDIS. Documentation. redis.io/docs.</a:t>
            </a:r>
            <a:endParaRPr lang="en-US" sz="3000" dirty="0"/>
          </a:p>
          <a:p>
            <a:pPr marL="342900" indent="-342900" algn="l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DOCKER. Documentation. docs.docker.com.</a:t>
            </a:r>
            <a:endParaRPr lang="en-US" sz="3000" dirty="0"/>
          </a:p>
          <a:p>
            <a:pPr marL="342900" indent="-342900" algn="l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BROWN, S. The C4 Model for Software Architecture. c4model.com.</a:t>
            </a:r>
            <a:endParaRPr lang="en-US" sz="3000" dirty="0"/>
          </a:p>
          <a:p>
            <a:pPr marL="342900" indent="-342900" algn="l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3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Lei nº 13.709/2018 — LGPD. 2018.</a:t>
            </a:r>
            <a:endParaRPr lang="en-US" sz="3000" dirty="0"/>
          </a:p>
        </p:txBody>
      </p:sp>
      <p:sp>
        <p:nvSpPr>
          <p:cNvPr id="32" name="Shape 29"/>
          <p:cNvSpPr/>
          <p:nvPr/>
        </p:nvSpPr>
        <p:spPr>
          <a:xfrm>
            <a:off x="0" y="42254424"/>
            <a:ext cx="30275784" cy="548640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55BD2E8F-8122-87F2-311F-32721E699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4184328"/>
            <a:ext cx="12760452" cy="7017517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A2C4DEA8-2AC9-838E-2314-0AA07872E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1" y="25483500"/>
            <a:ext cx="12463038" cy="7397417"/>
          </a:xfrm>
          <a:prstGeom prst="rect">
            <a:avLst/>
          </a:prstGeom>
        </p:spPr>
      </p:pic>
      <p:sp>
        <p:nvSpPr>
          <p:cNvPr id="40" name="Text 5">
            <a:extLst>
              <a:ext uri="{FF2B5EF4-FFF2-40B4-BE49-F238E27FC236}">
                <a16:creationId xmlns:a16="http://schemas.microsoft.com/office/drawing/2014/main" id="{F94CB070-2149-54DA-FEAC-E461DD79F3C3}"/>
              </a:ext>
            </a:extLst>
          </p:cNvPr>
          <p:cNvSpPr/>
          <p:nvPr/>
        </p:nvSpPr>
        <p:spPr>
          <a:xfrm>
            <a:off x="3795951" y="24788479"/>
            <a:ext cx="5893386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2000"/>
              </a:lnSpc>
              <a:spcAft>
                <a:spcPts val="1400"/>
              </a:spcAft>
            </a:pPr>
            <a:r>
              <a:rPr lang="en-US" sz="22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en-US" sz="22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1- </a:t>
            </a:r>
            <a:r>
              <a:rPr lang="pt-PT" sz="2200" dirty="0">
                <a:latin typeface="Arial" panose="020B0604020202020204" pitchFamily="34" charset="0"/>
                <a:cs typeface="Arial" panose="020B0604020202020204" pitchFamily="34" charset="0"/>
              </a:rPr>
              <a:t>Principais Caso de Uso da aplicação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64D83DB7-0165-C8AF-9011-842DE5576063}"/>
              </a:ext>
            </a:extLst>
          </p:cNvPr>
          <p:cNvSpPr/>
          <p:nvPr/>
        </p:nvSpPr>
        <p:spPr>
          <a:xfrm>
            <a:off x="5170322" y="34228130"/>
            <a:ext cx="5893386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2000"/>
              </a:lnSpc>
              <a:spcAft>
                <a:spcPts val="1400"/>
              </a:spcAft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9A55224A-3FC2-0C1F-53F4-E1DD57C72B1B}"/>
              </a:ext>
            </a:extLst>
          </p:cNvPr>
          <p:cNvSpPr/>
          <p:nvPr/>
        </p:nvSpPr>
        <p:spPr>
          <a:xfrm>
            <a:off x="5322722" y="34380530"/>
            <a:ext cx="5893386" cy="52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2000"/>
              </a:lnSpc>
              <a:spcAft>
                <a:spcPts val="1400"/>
              </a:spcAft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AF1404B7-0D83-4E37-C713-44C22FF6D5E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37604" y="15157917"/>
            <a:ext cx="13213223" cy="4761187"/>
          </a:xfrm>
          <a:prstGeom prst="rect">
            <a:avLst/>
          </a:prstGeom>
          <a:ln w="12700" cap="sq">
            <a:solidFill>
              <a:schemeClr val="tx1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38F2FC20-84B6-976B-84AD-9D32186B5B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82109" y="21570428"/>
            <a:ext cx="3600000" cy="3600000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5DDBC5DE-FFD9-AE73-4277-CE72D35CEC2E}"/>
              </a:ext>
            </a:extLst>
          </p:cNvPr>
          <p:cNvSpPr/>
          <p:nvPr/>
        </p:nvSpPr>
        <p:spPr>
          <a:xfrm>
            <a:off x="2604025" y="33578911"/>
            <a:ext cx="9990802" cy="380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2000"/>
              </a:lnSpc>
              <a:spcAft>
                <a:spcPts val="1400"/>
              </a:spcAft>
            </a:pPr>
            <a:r>
              <a:rPr lang="en-US" sz="22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Figura</a:t>
            </a:r>
            <a:r>
              <a:rPr lang="en-US" sz="22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2- </a:t>
            </a:r>
            <a:r>
              <a:rPr lang="pt-PT" sz="2200" dirty="0">
                <a:latin typeface="Arial" panose="020B0604020202020204" pitchFamily="34" charset="0"/>
                <a:cs typeface="Arial" panose="020B0604020202020204" pitchFamily="34" charset="0"/>
              </a:rPr>
              <a:t>Arquitetura de containers (Frontend, Backend, PostgreSQL e Redis)..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D14117C-D87C-7AB8-AFB3-2E0AAB9E9943}"/>
              </a:ext>
            </a:extLst>
          </p:cNvPr>
          <p:cNvSpPr/>
          <p:nvPr/>
        </p:nvSpPr>
        <p:spPr>
          <a:xfrm>
            <a:off x="15149784" y="14286925"/>
            <a:ext cx="13665995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12000"/>
              </a:lnSpc>
              <a:spcAft>
                <a:spcPts val="1400"/>
              </a:spcAft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Figura 3 – </a:t>
            </a:r>
            <a:r>
              <a:rPr lang="pt-BR" sz="2200" i="1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 do sistema </a:t>
            </a:r>
            <a:r>
              <a:rPr lang="pt-BR" sz="2200" dirty="0" err="1">
                <a:latin typeface="Arial" panose="020B0604020202020204" pitchFamily="34" charset="0"/>
                <a:cs typeface="Arial" panose="020B0604020202020204" pitchFamily="34" charset="0"/>
              </a:rPr>
              <a:t>MedSync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 demonstrando o painel de controle e gerenciamento da agenda.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91C7FA15-5C8D-89E5-2495-954EC56BF24D}"/>
              </a:ext>
            </a:extLst>
          </p:cNvPr>
          <p:cNvSpPr/>
          <p:nvPr/>
        </p:nvSpPr>
        <p:spPr>
          <a:xfrm>
            <a:off x="19584911" y="20820697"/>
            <a:ext cx="5594396" cy="387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22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Figura</a:t>
            </a:r>
            <a:r>
              <a:rPr lang="en-US" sz="22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4- QR Code para </a:t>
            </a:r>
            <a:r>
              <a:rPr lang="en-US" sz="22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acesso</a:t>
            </a:r>
            <a:r>
              <a:rPr lang="en-US" sz="2200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 a </a:t>
            </a:r>
            <a:r>
              <a:rPr lang="en-US" sz="2200" dirty="0" err="1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aplicação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532</Words>
  <Application>Microsoft Office PowerPoint</Application>
  <PresentationFormat>Personalizar</PresentationFormat>
  <Paragraphs>47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MedSync - Pôster Acadêmico A0</dc:title>
  <dc:subject>PptxGenJS Presentation</dc:subject>
  <dc:creator>Vitor Bansen Delfino</dc:creator>
  <cp:lastModifiedBy>VITOR BANSEN DELFINO</cp:lastModifiedBy>
  <cp:revision>5</cp:revision>
  <dcterms:created xsi:type="dcterms:W3CDTF">2026-06-30T20:00:45Z</dcterms:created>
  <dcterms:modified xsi:type="dcterms:W3CDTF">2026-06-30T22:30:48Z</dcterms:modified>
</cp:coreProperties>
</file>